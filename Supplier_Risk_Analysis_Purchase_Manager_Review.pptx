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image" Target="../media/image-5-2.png"/><Relationship Id="rId7" Type="http://schemas.openxmlformats.org/officeDocument/2006/relationships/image" Target="../media/image-5-7.png"/><Relationship Id="rId8" Type="http://schemas.openxmlformats.org/officeDocument/2006/relationships/image" Target="../media/image-5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2.png"/><Relationship Id="rId5" Type="http://schemas.openxmlformats.org/officeDocument/2006/relationships/image" Target="../media/image-17-5.png"/><Relationship Id="rId6" Type="http://schemas.openxmlformats.org/officeDocument/2006/relationships/image" Target="../media/image-17-2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103120"/>
            <a:ext cx="6400800" cy="6400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4206240"/>
            <a:ext cx="4114800" cy="4114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RISK ANALYTICS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Quality, Delivery &amp; Cost Risk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One-Way ANOVA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34340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statistics work, what they tell a Purchase Manager to do next,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to bring the results into Power BI for the team.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166360"/>
            <a:ext cx="100584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303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PROCUREMENT &amp; SOURCING REVIEW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2F4F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74520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EE8"/>
            </a:solidFill>
            <a:prstDash val="solid"/>
          </a:ln>
        </p:spPr>
      </p:sp>
      <p:pic>
        <p:nvPicPr>
          <p:cNvPr id="6" name="Image 0" descr="assets/ic_alert_crim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002536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1965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The business problem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203704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gut-feel supplier scorecards get challenged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80760" y="16002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2F4F9"/>
          </a:solidFill>
          <a:ln/>
        </p:spPr>
      </p:sp>
      <p:sp>
        <p:nvSpPr>
          <p:cNvPr id="10" name="Shape 7"/>
          <p:cNvSpPr/>
          <p:nvPr/>
        </p:nvSpPr>
        <p:spPr>
          <a:xfrm>
            <a:off x="6355080" y="1874520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EE8"/>
            </a:solidFill>
            <a:prstDash val="solid"/>
          </a:ln>
        </p:spPr>
      </p:sp>
      <p:pic>
        <p:nvPicPr>
          <p:cNvPr id="11" name="Image 1" descr="assets/ic_databas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200253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86600" y="181965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The data &amp; method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086600" y="2203704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orders, 20 suppliers, three risk metrics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32461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2F4F9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3520440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EE8"/>
            </a:solidFill>
            <a:prstDash val="solid"/>
          </a:ln>
        </p:spPr>
      </p:sp>
      <p:pic>
        <p:nvPicPr>
          <p:cNvPr id="16" name="Image 2" descr="assets/ic_barchar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64845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46557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ANOVA &amp; Tukey, explained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3849624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test, and why it's the right one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80760" y="32461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2F4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355080" y="3520440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EE8"/>
            </a:solidFill>
            <a:prstDash val="solid"/>
          </a:ln>
        </p:spPr>
      </p:sp>
      <p:pic>
        <p:nvPicPr>
          <p:cNvPr id="21" name="Image 3" descr="assets/ic_shiel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364845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86600" y="346557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The results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086600" y="3849624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suppliers are statistically confirmed risks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5720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2F4F9"/>
          </a:solidFill>
          <a:ln/>
        </p:spPr>
      </p:sp>
      <p:sp>
        <p:nvSpPr>
          <p:cNvPr id="25" name="Shape 19"/>
          <p:cNvSpPr/>
          <p:nvPr/>
        </p:nvSpPr>
        <p:spPr>
          <a:xfrm>
            <a:off x="731520" y="5166360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EE8"/>
            </a:solidFill>
            <a:prstDash val="solid"/>
          </a:ln>
        </p:spPr>
      </p:sp>
      <p:pic>
        <p:nvPicPr>
          <p:cNvPr id="26" name="Image 4" descr="assets/ic_trending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5294376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63040" y="511149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Purchase Manager decisions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1463040" y="5495544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actually do about each flag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08076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2F4F9"/>
          </a:solidFill>
          <a:ln/>
        </p:spPr>
      </p:sp>
      <p:sp>
        <p:nvSpPr>
          <p:cNvPr id="30" name="Shape 23"/>
          <p:cNvSpPr/>
          <p:nvPr/>
        </p:nvSpPr>
        <p:spPr>
          <a:xfrm>
            <a:off x="6355080" y="5166360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EE8"/>
            </a:solidFill>
            <a:prstDash val="solid"/>
          </a:ln>
        </p:spPr>
      </p:sp>
      <p:pic>
        <p:nvPicPr>
          <p:cNvPr id="31" name="Image 5" descr="assets/ic_piechar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3096" y="5294376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086600" y="511149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Power BI rollout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7086600" y="5495544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this into a live team dashboard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Risk Analytics  |  Purchase Management Review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6599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Gut-feel supplier scorecards don't survive a challenge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teams sit on years of order-history data but rarely have a statistically defensible way to answer one question: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57860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“Which suppliers are actually worse than the rest —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is it just noise?”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877056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3721608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supplier disputes a scorecard: “that was one bad batch.”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443984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4288536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asks for revenue-at-risk before anyone restricts a PO.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010912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4855464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suppliers by raw average risks acting on random noise, not a real pattern.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155448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2084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PROVIDES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233172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0" descr="assets/ic_che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1424" y="2432304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269480" y="2276856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test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7269480" y="258775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supplier identity genuinely explains performance differences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720840" y="324612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1" descr="assets/ic_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3346704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269480" y="3191256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bad actors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7269480" y="350215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“something looks off somewhere”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720840" y="416052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2" descr="assets/ic_che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24" y="4261104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269480" y="4105656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 trail</a:t>
            </a:r>
            <a:endParaRPr lang="en-US" sz="1350" dirty="0"/>
          </a:p>
        </p:txBody>
      </p:sp>
      <p:sp>
        <p:nvSpPr>
          <p:cNvPr id="26" name="Text 21"/>
          <p:cNvSpPr txBox="1"/>
          <p:nvPr/>
        </p:nvSpPr>
        <p:spPr>
          <a:xfrm>
            <a:off x="7269480" y="441655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if a supplier challenges a restriction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720840" y="507492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3" descr="assets/ic_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5175504"/>
            <a:ext cx="201168" cy="20116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269480" y="5020056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dollar lens</a:t>
            </a:r>
            <a:endParaRPr lang="en-US" sz="1350" dirty="0"/>
          </a:p>
        </p:txBody>
      </p:sp>
      <p:sp>
        <p:nvSpPr>
          <p:cNvPr id="30" name="Text 24"/>
          <p:cNvSpPr txBox="1"/>
          <p:nvPr/>
        </p:nvSpPr>
        <p:spPr>
          <a:xfrm>
            <a:off x="7269480" y="533095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exposed to confirmed risk, not just a p-value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Risk Analytics  |  Purchase Management Review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36599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year of order history,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2F4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764792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5146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Order-history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60020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2F4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37560" y="1764792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5146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2F4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1764792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5146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 across 10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categories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98280" y="160020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2F4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98280" y="1764792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5146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metrics tested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supplier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RISK METRICS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4160520"/>
            <a:ext cx="502920" cy="50292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19" name="Image 0" descr="assets/ic_shiel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4279392"/>
            <a:ext cx="265176" cy="265176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325880" y="41879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Risk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4800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Defect_Rate_PPM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51663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Defective parts per million units received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297680" y="393192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26280" y="4160520"/>
            <a:ext cx="502920" cy="50292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25" name="Image 1" descr="assets/ic_tru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4279392"/>
            <a:ext cx="265176" cy="26517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166360" y="41879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Risk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4526280" y="4800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Lead_Time_Variance_Days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4526280" y="51663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deviation from the promised lead time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8138160" y="393192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366760" y="4160520"/>
            <a:ext cx="502920" cy="50292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31" name="Image 2" descr="assets/ic_dolla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4279392"/>
            <a:ext cx="265176" cy="265176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9006840" y="41879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Risk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8366760" y="4800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Price_Volatility_Pct</a:t>
            </a:r>
            <a:endParaRPr lang="en-US" sz="1050" dirty="0"/>
          </a:p>
        </p:txBody>
      </p:sp>
      <p:sp>
        <p:nvSpPr>
          <p:cNvPr id="34" name="Text 29"/>
          <p:cNvSpPr txBox="1"/>
          <p:nvPr/>
        </p:nvSpPr>
        <p:spPr>
          <a:xfrm>
            <a:off x="8366760" y="51663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Period-over-period unit price swing, in %</a:t>
            </a:r>
            <a:endParaRPr lang="en-US" sz="1150" dirty="0"/>
          </a:p>
        </p:txBody>
      </p:sp>
      <p:sp>
        <p:nvSpPr>
          <p:cNvPr id="35" name="Text 30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Risk Analytics  |  Purchase Management Review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136599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orders to a supplier action list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468880" cy="1874520"/>
          </a:xfrm>
          <a:prstGeom prst="roundRect">
            <a:avLst>
              <a:gd name="adj" fmla="val 4878"/>
            </a:avLst>
          </a:prstGeom>
          <a:solidFill>
            <a:srgbClr val="F2F4F9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203911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pic>
        <p:nvPicPr>
          <p:cNvPr id="6" name="Image 0" descr="assets/ic_databas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904" y="2185416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7432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971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clean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2644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columns, drop bad rows</a:t>
            </a:r>
            <a:endParaRPr lang="en-US" sz="950" dirty="0"/>
          </a:p>
        </p:txBody>
      </p:sp>
      <p:pic>
        <p:nvPicPr>
          <p:cNvPr id="10" name="Image 1" descr="assets/ic_arrow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258318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83280" y="1783080"/>
            <a:ext cx="2468880" cy="1874520"/>
          </a:xfrm>
          <a:prstGeom prst="roundRect">
            <a:avLst>
              <a:gd name="adj" fmla="val 4878"/>
            </a:avLst>
          </a:prstGeom>
          <a:solidFill>
            <a:srgbClr val="F2F4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97680" y="203911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pic>
        <p:nvPicPr>
          <p:cNvPr id="13" name="Image 2" descr="assets/ic_barchar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2185416"/>
            <a:ext cx="347472" cy="34747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383280" y="27432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3474720" y="2971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3520440" y="32644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supplier explain the variation?</a:t>
            </a:r>
            <a:endParaRPr lang="en-US" sz="950" dirty="0"/>
          </a:p>
        </p:txBody>
      </p:sp>
      <p:pic>
        <p:nvPicPr>
          <p:cNvPr id="17" name="Image 3" descr="assets/ic_arrow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583180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309360" y="1783080"/>
            <a:ext cx="2468880" cy="1874520"/>
          </a:xfrm>
          <a:prstGeom prst="roundRect">
            <a:avLst>
              <a:gd name="adj" fmla="val 4878"/>
            </a:avLst>
          </a:prstGeom>
          <a:solidFill>
            <a:srgbClr val="F2F4F9"/>
          </a:solidFill>
          <a:ln/>
        </p:spPr>
      </p:sp>
      <p:sp>
        <p:nvSpPr>
          <p:cNvPr id="19" name="Shape 13"/>
          <p:cNvSpPr/>
          <p:nvPr/>
        </p:nvSpPr>
        <p:spPr>
          <a:xfrm>
            <a:off x="7223760" y="203911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pic>
        <p:nvPicPr>
          <p:cNvPr id="20" name="Image 4" descr="assets/ic_alert_crims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064" y="2185416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309360" y="27432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6400800" y="2971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Tukey HSD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6446520" y="32644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suppliers, specifically?</a:t>
            </a:r>
            <a:endParaRPr lang="en-US" sz="950" dirty="0"/>
          </a:p>
        </p:txBody>
      </p:sp>
      <p:pic>
        <p:nvPicPr>
          <p:cNvPr id="24" name="Image 5" descr="assets/ic_arrow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0" y="2583180"/>
            <a:ext cx="274320" cy="27432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235440" y="1783080"/>
            <a:ext cx="2468880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</p:spPr>
      </p:sp>
      <p:sp>
        <p:nvSpPr>
          <p:cNvPr id="26" name="Shape 18"/>
          <p:cNvSpPr/>
          <p:nvPr/>
        </p:nvSpPr>
        <p:spPr>
          <a:xfrm>
            <a:off x="10149840" y="203911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pic>
        <p:nvPicPr>
          <p:cNvPr id="27" name="Image 6" descr="assets/ic_trending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6144" y="2185416"/>
            <a:ext cx="347472" cy="34747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9235440" y="27432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9" name="Text 20"/>
          <p:cNvSpPr txBox="1"/>
          <p:nvPr/>
        </p:nvSpPr>
        <p:spPr>
          <a:xfrm>
            <a:off x="9326880" y="2971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tiering</a:t>
            </a:r>
            <a:endParaRPr lang="en-US" sz="1400" dirty="0"/>
          </a:p>
        </p:txBody>
      </p:sp>
      <p:sp>
        <p:nvSpPr>
          <p:cNvPr id="30" name="Text 21"/>
          <p:cNvSpPr txBox="1"/>
          <p:nvPr/>
        </p:nvSpPr>
        <p:spPr>
          <a:xfrm>
            <a:off x="9372600" y="32644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stats into an action tier</a:t>
            </a:r>
            <a:endParaRPr lang="en-US" sz="950" dirty="0"/>
          </a:p>
        </p:txBody>
      </p:sp>
      <p:sp>
        <p:nvSpPr>
          <p:cNvPr id="31" name="Shape 22"/>
          <p:cNvSpPr/>
          <p:nvPr/>
        </p:nvSpPr>
        <p:spPr>
          <a:xfrm>
            <a:off x="457200" y="402336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FBEAE8"/>
          </a:solidFill>
          <a:ln/>
        </p:spPr>
      </p:sp>
      <p:pic>
        <p:nvPicPr>
          <p:cNvPr id="32" name="Image 7" descr="assets/ic_alert_crimso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4389120"/>
            <a:ext cx="457200" cy="45720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371600" y="41148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Tukey HSD and not just sorting by average: comparing 20 suppliers pairwise means 190 comparisons. Running 190 raw t-tests at 5% significance would produce several false positives by chance alone — exactly the kind of statistical sloppiness that gets a supplier wrongly blocked. Tukey HSD controls that error rate while still naming names.</a:t>
            </a:r>
            <a:endParaRPr lang="en-US" sz="1200" dirty="0"/>
          </a:p>
        </p:txBody>
      </p:sp>
      <p:sp>
        <p:nvSpPr>
          <p:cNvPr id="34" name="Text 2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Risk Analytics  |  Purchase Management Review</a:t>
            </a:r>
            <a:endParaRPr lang="en-US" sz="900" dirty="0"/>
          </a:p>
        </p:txBody>
      </p:sp>
      <p:sp>
        <p:nvSpPr>
          <p:cNvPr id="35" name="Text 25"/>
          <p:cNvSpPr/>
          <p:nvPr/>
        </p:nvSpPr>
        <p:spPr>
          <a:xfrm>
            <a:off x="1136599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 · STEP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 and cleaning the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6263640" cy="4709160"/>
          </a:xfrm>
          <a:prstGeom prst="roundRect">
            <a:avLst>
              <a:gd name="adj" fmla="val 1553"/>
            </a:avLst>
          </a:prstGeom>
          <a:solidFill>
            <a:srgbClr val="141B4D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91640"/>
            <a:ext cx="118872" cy="118872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1691640"/>
            <a:ext cx="118872" cy="118872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" y="1691640"/>
            <a:ext cx="118872" cy="118872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965960"/>
            <a:ext cx="5943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 import stats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statsmodels.stats.multicomp \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import pairwise_tukeyhsd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CSV_PATH = "supplier_order_history.csv"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pd.read_csv(CSV_PATH)      # load raw orders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 = [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"Defect_Rate_PPM",          # Quality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"Lead_Time_Variance_Days",  # Delivery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"Price_Volatility_Pct",     # Cost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drop incomplete rows -- never impute a defect rate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df.dropna(subset=["Supplier"] + metrics)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df.drop_duplicates()       # drop re-run exports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print(f"Loaded {len(df)} rows, "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f"{df['Supplier'].nunique()} suppliers")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1554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EXISTS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1965960"/>
            <a:ext cx="4754880" cy="960120"/>
          </a:xfrm>
          <a:prstGeom prst="roundRect">
            <a:avLst>
              <a:gd name="adj" fmla="val 6667"/>
            </a:avLst>
          </a:prstGeom>
          <a:solidFill>
            <a:srgbClr val="F2F4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0" y="20574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isn't guaranteed clean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3317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synthetic test set, a real CSV can have missing cells, negative values, or duplicate rows from a re-run export.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49440" y="3054096"/>
            <a:ext cx="4754880" cy="960120"/>
          </a:xfrm>
          <a:prstGeom prst="roundRect">
            <a:avLst>
              <a:gd name="adj" fmla="val 6667"/>
            </a:avLst>
          </a:prstGeom>
          <a:solidFill>
            <a:srgbClr val="F2F4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0" y="314553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Drop, don't guess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341985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nulls, impossible negative values, or exact duplicates are removed before any statistics run — never silently imputed.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49440" y="4142232"/>
            <a:ext cx="4754880" cy="960120"/>
          </a:xfrm>
          <a:prstGeom prst="roundRect">
            <a:avLst>
              <a:gd name="adj" fmla="val 6667"/>
            </a:avLst>
          </a:prstGeom>
          <a:solidFill>
            <a:srgbClr val="F2F4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0" y="423367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loudly, not quietly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450799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required columns raise a clear error immediately, instead of crashing later inside the ANOVA call.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Risk Analytics  |  Purchase Management Review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599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 · STEP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the One-Way ANOVA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6263640" cy="4709160"/>
          </a:xfrm>
          <a:prstGeom prst="roundRect">
            <a:avLst>
              <a:gd name="adj" fmla="val 1553"/>
            </a:avLst>
          </a:prstGeom>
          <a:solidFill>
            <a:srgbClr val="141B4D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91640"/>
            <a:ext cx="118872" cy="118872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1691640"/>
            <a:ext cx="118872" cy="118872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" y="1691640"/>
            <a:ext cx="118872" cy="118872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965960"/>
            <a:ext cx="5943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 = 0.05   # &lt;-- more on this choice next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metric in metrics: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one array of values per supplier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groups = [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g[metric].values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_, g in df.groupby("Supplier")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H0: every supplier has the same true mean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f_stat, p_value = stats.f_oneway(*groups)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print(f"{metric}: "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f"F={f_stat:.2f}, p={p_value:.6f}")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p_value &gt;= ALPHA: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print("No significant difference.")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           # nothing to flag here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p &lt; ALPHA -&gt; reject H0, run Tukey HSD next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to see WHICH supplier(s) are responsible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1554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CODE DOES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1965960"/>
            <a:ext cx="4754880" cy="1051560"/>
          </a:xfrm>
          <a:prstGeom prst="roundRect">
            <a:avLst>
              <a:gd name="adj" fmla="val 6087"/>
            </a:avLst>
          </a:prstGeom>
          <a:solidFill>
            <a:srgbClr val="F2F4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0" y="20574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per risk metric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3317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Delivery, and Cost are independent business problems with different owners — each gets its own clean pass/fail answer.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49440" y="3145536"/>
            <a:ext cx="4754880" cy="914400"/>
          </a:xfrm>
          <a:prstGeom prst="roundRect">
            <a:avLst>
              <a:gd name="adj" fmla="val 7000"/>
            </a:avLst>
          </a:prstGeom>
          <a:solidFill>
            <a:srgbClr val="F2F4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0" y="323697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by supplier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351129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needs each supplier's values as a separate array; f_oneway() then compares all 20 groups at once.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49440" y="4187952"/>
            <a:ext cx="4754880" cy="914400"/>
          </a:xfrm>
          <a:prstGeom prst="roundRect">
            <a:avLst>
              <a:gd name="adj" fmla="val 7000"/>
            </a:avLst>
          </a:prstGeom>
          <a:solidFill>
            <a:srgbClr val="F2F4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0" y="42793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that matters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455371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p-value below 0.05 means supplier identity is a statistically real driver of that metric — not random noise.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Risk Analytics  |  Purchase Management Review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599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STATISTICS, EXPLAINED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ANOVA — and why use it here?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642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(Analysis of Variance)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test that compares the average of a metric across several groups at once, and answers one question: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“Is at least one group's average genuinely different — beyond what random sampling noise would produce?”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2F4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38221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(null hypothesis)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096512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suppliers have the same true average for this metric — any differences we see are just random noise.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(alternative)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029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supplier's true average is genuinely different from the rest.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532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p-value under 0.05 lets us reject H₀.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508760"/>
            <a:ext cx="5486400" cy="4434840"/>
          </a:xfrm>
          <a:prstGeom prst="roundRect">
            <a:avLst>
              <a:gd name="adj" fmla="val 2062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0" y="1737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ONE-WAY ANOVA, SPECIFICALLY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2176272"/>
            <a:ext cx="100584" cy="1005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0" y="2020824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factor, one test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295144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“One-way” means a single grouping factor — here, Supplier. That matches this problem exactly: one categorical driver, one numeric outcome per test.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0" y="3163824"/>
            <a:ext cx="100584" cy="1005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0" y="3008376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t-test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3282696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t-test only compares two groups. With 20 suppliers, a proper omnibus test across all groups at once is required — that's what ANOVA is for.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0" y="4151376"/>
            <a:ext cx="100584" cy="1005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0" y="3995928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“sort by average”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427024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Eyeballing 20 averages risks acting on sampling noise. ANOVA is the formal gate before anyone is allowed to act on a difference.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83680" y="5138928"/>
            <a:ext cx="100584" cy="1005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0" y="4983480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necessary first gate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525780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only says a difference exists SOMEWHERE. Tukey HSD (next) says exactly where — running that without a significant ANOVA first is not statistically valid.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Risk Analytics  |  Purchase Management Review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6599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STATISTICS, EXPLAINED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alpha = 0.05 — and what it actually controls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(α) is the probability of a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 error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we're willing to accept: flagging a supplier as a bad actor when it's actually performing normally. Setting α = 0.05 means we accept up to a 5% chance of that false alarm on any single comparison.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BEAE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6974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assets/ic_xcircle_crim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8346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71576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 ERROR — FALSE POSITIVE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3375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flag a GOOD supplier as bad.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74904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healthy supplier gets wrongly restricted or blocked — damaged relationship, contract dispute risk, lost sourcing capacity, reputational cost.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242316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BF3DF"/>
          </a:solidFill>
          <a:ln/>
        </p:spPr>
      </p:sp>
      <p:sp>
        <p:nvSpPr>
          <p:cNvPr id="12" name="Shape 9"/>
          <p:cNvSpPr/>
          <p:nvPr/>
        </p:nvSpPr>
        <p:spPr>
          <a:xfrm>
            <a:off x="6537960" y="26974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assets/ic_eyeoff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8346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995160" y="271576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 ERROR — FALSE NEGATIVE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6537960" y="33375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MISS a real bad actor.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6537960" y="374904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quality, delivery, or cost problem goes undetected — defective parts reach production, late deliveries disrupt the line, price gouging continues unchecked.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" y="498348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pic>
        <p:nvPicPr>
          <p:cNvPr id="18" name="Image 2" descr="assets/ic_slider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23036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25880" y="5074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5%, specifically: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conventional balance point across quality and manufacturing statistics (Six Sigma, SPC charts) — strict enough to avoid crying wolf on minor fluctuations, loose enough to catch real problems. It's a business convention, not a law of nature — the right number depends on how costly each error type is to you.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Risk Analytics  |  Purchase Management Review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6599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STATISTICS, EXPLAINED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tested it: raising alpha didn't change a single flag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2148840"/>
        </p:xfrm>
        <a:graphic>
          <a:graphicData uri="http://schemas.openxmlformats.org/drawingml/2006/table">
            <a:tbl>
              <a:tblPr/>
              <a:tblGrid>
                <a:gridCol w="2468880"/>
                <a:gridCol w="2194560"/>
                <a:gridCol w="2194560"/>
                <a:gridCol w="2011680"/>
                <a:gridCol w="23774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Alpha (α)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Quality flagged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Delivery flagged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Cost flagged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 unique suppliers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0.01  (strict)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0.05  (standard)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0.10  (looser)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0.20  (very loose)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2F4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39776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doesn't move: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190 supplier-pair comparisons run per metric, 37 land at p ≈ 0.000 (a flagged supplier vs. a normal one) and the remaining 153 land at p ≈ 0.996–1.000 (normal vs. normal). There's no gray zone in between for alpha to argue about — the underlying gaps are simply too large.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512064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BF3DF"/>
          </a:solidFill>
          <a:ln/>
        </p:spPr>
      </p:sp>
      <p:pic>
        <p:nvPicPr>
          <p:cNvPr id="8" name="Image 0" descr="assets/ic_eyeoff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4406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5230368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won't always be true.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messier real-world data with more borderline suppliers, alpha choice will change who gets flagged. Practical policy: use a </a:t>
            </a:r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α (0.01) before BLOCK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decisions, the </a:t>
            </a:r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0.05 for RESTRICT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a </a:t>
            </a:r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looser α (0.10) for early WATCH flags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where a false alarm just means closer monitoring, not lost revenue.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Risk Analytics  |  Purchase Management Review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6599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 · STEP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names with Tukey HSD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6263640" cy="4709160"/>
          </a:xfrm>
          <a:prstGeom prst="roundRect">
            <a:avLst>
              <a:gd name="adj" fmla="val 1553"/>
            </a:avLst>
          </a:prstGeom>
          <a:solidFill>
            <a:srgbClr val="141B4D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91640"/>
            <a:ext cx="118872" cy="118872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1691640"/>
            <a:ext cx="118872" cy="118872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" y="1691640"/>
            <a:ext cx="118872" cy="118872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965960"/>
            <a:ext cx="5943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alpha is reused here -- same threshold, now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applied pairwise across 20 suppliers (190 pairs)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tukey = pairwise_tukeyhsd(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df[metric], df["Supplier"], alpha=ALPHA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pairs = pd.DataFrame(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tukey._results_table.data[1:],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columns=tukey._results_table.data[0],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means = df.groupby("Supplier")[metric].mean()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worse_count = {s: 0 for s in means.index}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_, row in pairs.iterrows():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row["reject"]:      # this pair differs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worse = (row["group1"]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means[row["group1"]] &gt; means[row["group2"]]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else row["group2"])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worse_count[worse] += 1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supplier -&gt; how many peers it's confirmed worse than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1554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CODE EXISTS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1965960"/>
            <a:ext cx="4754880" cy="1005840"/>
          </a:xfrm>
          <a:prstGeom prst="roundRect">
            <a:avLst>
              <a:gd name="adj" fmla="val 6364"/>
            </a:avLst>
          </a:prstGeom>
          <a:solidFill>
            <a:srgbClr val="F2F4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0" y="20574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runs if ANOVA was significant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33172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any post-hoc test after a non-significant ANOVA is statistical malpractice — you'd be hunting for patterns inside noise.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49440" y="3099816"/>
            <a:ext cx="4754880" cy="960120"/>
          </a:xfrm>
          <a:prstGeom prst="roundRect">
            <a:avLst>
              <a:gd name="adj" fmla="val 6667"/>
            </a:avLst>
          </a:prstGeom>
          <a:solidFill>
            <a:srgbClr val="F2F4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0" y="31912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direction, not just “differs”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346557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Tukey's reject flag says a pair differs; the code then checks the actual means to determine which one is worse.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49440" y="4187952"/>
            <a:ext cx="4754880" cy="868680"/>
          </a:xfrm>
          <a:prstGeom prst="roundRect">
            <a:avLst>
              <a:gd name="adj" fmla="val 7368"/>
            </a:avLst>
          </a:prstGeom>
          <a:solidFill>
            <a:srgbClr val="F2F4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0" y="42793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confirmed losses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45537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“Worse than 19/19 peers” is a far more defensible flagging criterion than a raw leaderboard rank.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Risk Analytics  |  Purchase Management Review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599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PART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three risk categories came back significant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182880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  <a:gridCol w="1874520"/>
                <a:gridCol w="1874520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Risk Category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F-statistic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Quality Risk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27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Defect_Rate_PPM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759.75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&lt; 0.000001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</a:rPr>
                        <a:t>SIGNIFICANT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Delivery Risk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27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Lead_Time_Variance_Days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233.71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&lt; 0.000001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</a:rPr>
                        <a:t>SIGNIFICANT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Cost Risk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27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Price_Volatility_Pct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275.04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&lt; 0.000001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</a:rPr>
                        <a:t>SIGNIFICANT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49040"/>
            <a:ext cx="11247120" cy="1737360"/>
          </a:xfrm>
          <a:prstGeom prst="roundRect">
            <a:avLst>
              <a:gd name="adj" fmla="val 4211"/>
            </a:avLst>
          </a:prstGeom>
          <a:solidFill>
            <a:srgbClr val="F2F4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3950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25196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p-value this far below 0.05 means the odds of seeing this much variation between suppliers purely by chance are effectively zero — supplier identity is a real, statistically confirmed driver of performance in all three categories. That clears the gate to name individual suppliers with Tukey HSD.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Risk Analytics  |  Purchase Management Review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6599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PART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suppliers are statistically confirmed outliers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2606040"/>
        </p:xfrm>
        <a:graphic>
          <a:graphicData uri="http://schemas.openxmlformats.org/drawingml/2006/table">
            <a:tbl>
              <a:tblPr/>
              <a:tblGrid>
                <a:gridCol w="3108960"/>
                <a:gridCol w="2377440"/>
                <a:gridCol w="1554480"/>
                <a:gridCol w="2103120"/>
                <a:gridCol w="210312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Supplier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Risk Category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Mean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Worse than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Volt Precision Parts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Quality (PPM)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317.9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19 / 19 peers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CRITICAL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Apex Drivetrain Solutions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Quality (PPM)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183.2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18 / 19 peers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CRITICAL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Apex Drivetrain Solutions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Delivery (days)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10.7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18 / 19 peers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CRITICAL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IronClad Metal Works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Delivery (days)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15.2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19 / 19 peers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CRITICAL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Pinnacle Fasteners Co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Cost (% volatility)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13.8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19 / 19 peers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CRITICAL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43484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BEAE8"/>
          </a:solidFill>
          <a:ln/>
        </p:spPr>
      </p:sp>
      <p:pic>
        <p:nvPicPr>
          <p:cNvPr id="6" name="Image 0" descr="assets/ic_alert_crim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4663440"/>
            <a:ext cx="411480" cy="411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452628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Drivetrain Solutions appears twice.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flagged CRITICAL in both Quality and Delivery — a compounding, multi-risk pattern typical of a supplier in genuine operational or financial distress. This is the profile that should get executive attention first.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Risk Analytics  |  Purchase Management Review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6599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IT DIRECTLY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vs. after averaging: Quality Risk</a:t>
            </a:r>
            <a:endParaRPr lang="en-US" sz="3000" dirty="0"/>
          </a:p>
        </p:txBody>
      </p:sp>
      <p:pic>
        <p:nvPicPr>
          <p:cNvPr id="4" name="Image 0" descr="assets/before_after_Defect_Rate_PP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11064240" cy="3794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48640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2F4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56235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individual order, plotted raw — noisy, but two suppliers already stand out.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data, averaged per supplier. The same two clear the flag threshold. Delivery and Cost charts show the same pattern for their respective flagged suppliers.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Risk Analytics  |  Purchase Management Review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599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PURCHASE MANAGER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 statistic into a sourcing decision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47120" cy="960120"/>
          </a:xfrm>
          <a:prstGeom prst="roundRect">
            <a:avLst>
              <a:gd name="adj" fmla="val 6667"/>
            </a:avLst>
          </a:prstGeom>
          <a:solidFill>
            <a:srgbClr val="FBEAE8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801368"/>
            <a:ext cx="1417320" cy="54864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80136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17373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60% of peers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169164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new purchase orders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1673352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new POs immediately. Require a formal corrective-action plan before resuming.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11247120" cy="960120"/>
          </a:xfrm>
          <a:prstGeom prst="roundRect">
            <a:avLst>
              <a:gd name="adj" fmla="val 6667"/>
            </a:avLst>
          </a:prstGeom>
          <a:solidFill>
            <a:srgbClr val="FBF3DF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" y="2898648"/>
            <a:ext cx="1417320" cy="54864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89864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28346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30–59% of peers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27889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&amp; dual-source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2770632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order volume, qualify a backup supplier, request an improvement plan with a deadline.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11247120" cy="960120"/>
          </a:xfrm>
          <a:prstGeom prst="roundRect">
            <a:avLst>
              <a:gd name="adj" fmla="val 6667"/>
            </a:avLst>
          </a:prstGeom>
          <a:solidFill>
            <a:srgbClr val="F2F4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3995928"/>
            <a:ext cx="1417320" cy="548640"/>
          </a:xfrm>
          <a:prstGeom prst="roundRect">
            <a:avLst>
              <a:gd name="adj" fmla="val 50000"/>
            </a:avLst>
          </a:prstGeom>
          <a:solidFill>
            <a:srgbClr val="5B627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99592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286000" y="39319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1–29% of peers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434840" y="38862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closely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3867912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order restriction yet. Increase inspection frequency and re-check next quarter's data.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457200" y="4892040"/>
            <a:ext cx="11247120" cy="960120"/>
          </a:xfrm>
          <a:prstGeom prst="roundRect">
            <a:avLst>
              <a:gd name="adj" fmla="val 6667"/>
            </a:avLst>
          </a:prstGeom>
          <a:solidFill>
            <a:srgbClr val="E8F3EA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5093208"/>
            <a:ext cx="1417320" cy="5486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" y="509320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286000" y="50292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of peers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434840" y="49834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sourcing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965192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statistically confirmed issue. No action needed.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Risk Analytics  |  Purchase Management Review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6599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PURCHASE MANAGER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 recommended actions this quarter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11247120" cy="1078992"/>
          </a:xfrm>
          <a:prstGeom prst="roundRect">
            <a:avLst>
              <a:gd name="adj" fmla="val 5932"/>
            </a:avLst>
          </a:prstGeom>
          <a:solidFill>
            <a:srgbClr val="F2F4F9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837944"/>
            <a:ext cx="548640" cy="548640"/>
          </a:xfrm>
          <a:prstGeom prst="ellipse">
            <a:avLst/>
          </a:prstGeom>
          <a:solidFill>
            <a:srgbClr val="FBEAE8"/>
          </a:solidFill>
          <a:ln/>
        </p:spPr>
      </p:sp>
      <p:pic>
        <p:nvPicPr>
          <p:cNvPr id="6" name="Image 0" descr="assets/ic_alert_crim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75104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6420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Drivetrain Solutions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011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+ Delivery — CRITICAL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3886200" y="16642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priority. Compounding risk suggests broader operational distress. Escalate to an executive-level supplier review; begin dual-sourcing critical SKUs; place on formal probation.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457200" y="2761488"/>
            <a:ext cx="11247120" cy="1078992"/>
          </a:xfrm>
          <a:prstGeom prst="roundRect">
            <a:avLst>
              <a:gd name="adj" fmla="val 5932"/>
            </a:avLst>
          </a:prstGeom>
          <a:solidFill>
            <a:srgbClr val="F2F4F9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3026664"/>
            <a:ext cx="548640" cy="548640"/>
          </a:xfrm>
          <a:prstGeom prst="ellipse">
            <a:avLst/>
          </a:prstGeom>
          <a:solidFill>
            <a:srgbClr val="FBEAE8"/>
          </a:solidFill>
          <a:ln/>
        </p:spPr>
      </p:sp>
      <p:pic>
        <p:nvPicPr>
          <p:cNvPr id="12" name="Image 1" descr="assets/ic_alert_crim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16382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7320" y="285292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 Precision Parts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417320" y="32004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— CRITICAL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3886200" y="285292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rate ~7x the supplier base average. Halt new POs pending a root-cause audit; require certification / corrective-action evidence before resuming orders.</a:t>
            </a:r>
            <a:endParaRPr lang="en-US" sz="1130" dirty="0"/>
          </a:p>
        </p:txBody>
      </p:sp>
      <p:sp>
        <p:nvSpPr>
          <p:cNvPr id="16" name="Shape 12"/>
          <p:cNvSpPr/>
          <p:nvPr/>
        </p:nvSpPr>
        <p:spPr>
          <a:xfrm>
            <a:off x="457200" y="3950208"/>
            <a:ext cx="11247120" cy="1078992"/>
          </a:xfrm>
          <a:prstGeom prst="roundRect">
            <a:avLst>
              <a:gd name="adj" fmla="val 5932"/>
            </a:avLst>
          </a:prstGeom>
          <a:solidFill>
            <a:srgbClr val="F2F4F9"/>
          </a:solidFill>
          <a:ln/>
        </p:spPr>
      </p:sp>
      <p:sp>
        <p:nvSpPr>
          <p:cNvPr id="17" name="Shape 13"/>
          <p:cNvSpPr/>
          <p:nvPr/>
        </p:nvSpPr>
        <p:spPr>
          <a:xfrm>
            <a:off x="685800" y="4215384"/>
            <a:ext cx="548640" cy="548640"/>
          </a:xfrm>
          <a:prstGeom prst="ellipse">
            <a:avLst/>
          </a:prstGeom>
          <a:solidFill>
            <a:srgbClr val="FBEAE8"/>
          </a:solidFill>
          <a:ln/>
        </p:spPr>
      </p:sp>
      <p:pic>
        <p:nvPicPr>
          <p:cNvPr id="18" name="Image 2" descr="assets/ic_alert_crims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5254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17320" y="40416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IronClad Metal Works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1417320" y="43891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— CRITICAL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3886200" y="404164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Lead-time variance ~6x the supplier base average. Restrict new orders; require a logistics improvement plan; qualify a backup supplier for lead-time-critical SKUs.</a:t>
            </a:r>
            <a:endParaRPr lang="en-US" sz="1130" dirty="0"/>
          </a:p>
        </p:txBody>
      </p:sp>
      <p:sp>
        <p:nvSpPr>
          <p:cNvPr id="22" name="Shape 17"/>
          <p:cNvSpPr/>
          <p:nvPr/>
        </p:nvSpPr>
        <p:spPr>
          <a:xfrm>
            <a:off x="457200" y="5138928"/>
            <a:ext cx="11247120" cy="1078992"/>
          </a:xfrm>
          <a:prstGeom prst="roundRect">
            <a:avLst>
              <a:gd name="adj" fmla="val 5932"/>
            </a:avLst>
          </a:prstGeom>
          <a:solidFill>
            <a:srgbClr val="F2F4F9"/>
          </a:solidFill>
          <a:ln/>
        </p:spPr>
      </p:sp>
      <p:sp>
        <p:nvSpPr>
          <p:cNvPr id="23" name="Shape 18"/>
          <p:cNvSpPr/>
          <p:nvPr/>
        </p:nvSpPr>
        <p:spPr>
          <a:xfrm>
            <a:off x="685800" y="5404104"/>
            <a:ext cx="548640" cy="548640"/>
          </a:xfrm>
          <a:prstGeom prst="ellipse">
            <a:avLst/>
          </a:prstGeom>
          <a:solidFill>
            <a:srgbClr val="FBEAE8"/>
          </a:solidFill>
          <a:ln/>
        </p:spPr>
      </p:sp>
      <p:pic>
        <p:nvPicPr>
          <p:cNvPr id="24" name="Image 3" descr="assets/ic_alert_crims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541264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17320" y="52303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Pinnacle Fasteners Co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1417320" y="55778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— CRITICAL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3886200" y="523036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volatility ~6x the supplier base average. Renegotiate to fixed/capped pricing terms; source competitive quotes to hedge against further swings.</a:t>
            </a:r>
            <a:endParaRPr lang="en-US" sz="1130" dirty="0"/>
          </a:p>
        </p:txBody>
      </p:sp>
      <p:sp>
        <p:nvSpPr>
          <p:cNvPr id="28" name="Text 2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Risk Analytics  |  Purchase Management Review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36599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THIS TO THE TEAM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Python script to Power BI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2F4F9"/>
          </a:solidFill>
          <a:ln/>
        </p:spPr>
      </p:sp>
      <p:sp>
        <p:nvSpPr>
          <p:cNvPr id="5" name="Shape 3"/>
          <p:cNvSpPr/>
          <p:nvPr/>
        </p:nvSpPr>
        <p:spPr>
          <a:xfrm>
            <a:off x="1394460" y="20574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pic>
        <p:nvPicPr>
          <p:cNvPr id="6" name="Image 0" descr="assets/ic_filetex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0764" y="2203704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278892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 runs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3127248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order history, runs ANOVA + Tukey, exports CSV / Excel</a:t>
            </a:r>
            <a:endParaRPr lang="en-US" sz="980" dirty="0"/>
          </a:p>
        </p:txBody>
      </p:sp>
      <p:pic>
        <p:nvPicPr>
          <p:cNvPr id="9" name="Image 1" descr="assets/ic_arrow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664" y="2606040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83280" y="182880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2F4F9"/>
          </a:solidFill>
          <a:ln/>
        </p:spPr>
      </p:sp>
      <p:sp>
        <p:nvSpPr>
          <p:cNvPr id="11" name="Shape 7"/>
          <p:cNvSpPr/>
          <p:nvPr/>
        </p:nvSpPr>
        <p:spPr>
          <a:xfrm>
            <a:off x="4320540" y="20574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pic>
        <p:nvPicPr>
          <p:cNvPr id="12" name="Image 2" descr="assets/ic_uploadclou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844" y="2203704"/>
            <a:ext cx="347472" cy="34747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493008" y="278892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 in shared storage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3547872" y="3127248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SharePoint, OneDrive, or a database table Power BI can reach</a:t>
            </a:r>
            <a:endParaRPr lang="en-US" sz="980" dirty="0"/>
          </a:p>
        </p:txBody>
      </p:sp>
      <p:pic>
        <p:nvPicPr>
          <p:cNvPr id="15" name="Image 3" descr="assets/ic_arrow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744" y="2606040"/>
            <a:ext cx="292608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09360" y="182880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2F4F9"/>
          </a:solidFill>
          <a:ln/>
        </p:spPr>
      </p:sp>
      <p:sp>
        <p:nvSpPr>
          <p:cNvPr id="17" name="Shape 11"/>
          <p:cNvSpPr/>
          <p:nvPr/>
        </p:nvSpPr>
        <p:spPr>
          <a:xfrm>
            <a:off x="7246620" y="20574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pic>
        <p:nvPicPr>
          <p:cNvPr id="18" name="Image 4" descr="assets/ic_barchar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2924" y="2203704"/>
            <a:ext cx="347472" cy="34747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419088" y="278892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“Get Data”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6473952" y="3127248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the file/table; Power Query shapes it further</a:t>
            </a:r>
            <a:endParaRPr lang="en-US" sz="980" dirty="0"/>
          </a:p>
        </p:txBody>
      </p:sp>
      <p:pic>
        <p:nvPicPr>
          <p:cNvPr id="21" name="Image 5" descr="assets/ic_arrow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8824" y="2606040"/>
            <a:ext cx="292608" cy="29260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235440" y="182880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2F4F9"/>
          </a:solidFill>
          <a:ln/>
        </p:spPr>
      </p:sp>
      <p:sp>
        <p:nvSpPr>
          <p:cNvPr id="23" name="Shape 15"/>
          <p:cNvSpPr/>
          <p:nvPr/>
        </p:nvSpPr>
        <p:spPr>
          <a:xfrm>
            <a:off x="10172700" y="20574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pic>
        <p:nvPicPr>
          <p:cNvPr id="24" name="Image 6" descr="assets/ic_monitor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9004" y="2203704"/>
            <a:ext cx="347472" cy="347472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9345168" y="278892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dashboard</a:t>
            </a:r>
            <a:endParaRPr lang="en-US" sz="1300" dirty="0"/>
          </a:p>
        </p:txBody>
      </p:sp>
      <p:sp>
        <p:nvSpPr>
          <p:cNvPr id="26" name="Text 17"/>
          <p:cNvSpPr txBox="1"/>
          <p:nvPr/>
        </p:nvSpPr>
        <p:spPr>
          <a:xfrm>
            <a:off x="9400032" y="3127248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with the sourcing team, refreshed on a schedule</a:t>
            </a:r>
            <a:endParaRPr lang="en-US" sz="980" dirty="0"/>
          </a:p>
        </p:txBody>
      </p:sp>
      <p:sp>
        <p:nvSpPr>
          <p:cNvPr id="27" name="Shape 18"/>
          <p:cNvSpPr/>
          <p:nvPr/>
        </p:nvSpPr>
        <p:spPr>
          <a:xfrm>
            <a:off x="457200" y="4023360"/>
            <a:ext cx="1124712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28" name="Text 19"/>
          <p:cNvSpPr txBox="1"/>
          <p:nvPr/>
        </p:nvSpPr>
        <p:spPr>
          <a:xfrm>
            <a:off x="777240" y="4206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LIVES ON THE DASHBOARD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777240" y="4690872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0" name="Text 21"/>
          <p:cNvSpPr txBox="1"/>
          <p:nvPr/>
        </p:nvSpPr>
        <p:spPr>
          <a:xfrm>
            <a:off x="1005840" y="454456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KPIs: suppliers monitored, suppliers flagged CRITICAL/HIGH, % of total spend at risk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777240" y="5020056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2" name="Text 23"/>
          <p:cNvSpPr txBox="1"/>
          <p:nvPr/>
        </p:nvSpPr>
        <p:spPr>
          <a:xfrm>
            <a:off x="1005840" y="487375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× risk-category heatmap, so a multi-risk supplier is visible in one glance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777240" y="534924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4" name="Text 25"/>
          <p:cNvSpPr txBox="1"/>
          <p:nvPr/>
        </p:nvSpPr>
        <p:spPr>
          <a:xfrm>
            <a:off x="1005840" y="5202936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bad-actor leaderboard: supplier, mean value, “worse than N/19 peers,” risk tier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777240" y="5678424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6" name="Text 27"/>
          <p:cNvSpPr txBox="1"/>
          <p:nvPr/>
        </p:nvSpPr>
        <p:spPr>
          <a:xfrm>
            <a:off x="1005840" y="55321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per risk category (Quality / Delivery / Cost) with a ranked bar chart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Risk Analytics  |  Purchase Management Review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136599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GUIDE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this up for your next team meeting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2F4F9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1907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Python output somewhere shared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12848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export to a SharePoint / OneDrive folder (or a database table) so Power BI can always reach the latest file.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2F4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71907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→ Get Data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212848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Excel Workbook (or CSV / SQL Server) and select the exported Order_History, ANOVA_Results, and Risk_Flags sheets.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457200" y="3127248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2F4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33558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355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2918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it in Power Query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785616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data types, and use “Supplier” as the common key to relate the Order History table to the Risk Flags table.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6263640" y="3127248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2F4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33558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3355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2918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visuals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785616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for headline numbers, a matrix/heatmap for supplier × category, and a table for the leaderboard — see the previous slide.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457200" y="4700016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2F4F9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492861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49286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486460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&amp; schedule refresh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358384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a Power BI workspace shared with the sourcing team; set scheduled refresh to match how often the Python job re-runs.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6263640" y="4700016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2F4F9"/>
          </a:solidFill>
          <a:ln/>
        </p:spPr>
      </p:sp>
      <p:sp>
        <p:nvSpPr>
          <p:cNvPr id="30" name="Shape 28"/>
          <p:cNvSpPr/>
          <p:nvPr/>
        </p:nvSpPr>
        <p:spPr>
          <a:xfrm>
            <a:off x="6492240" y="492861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92240" y="49286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486460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it live in the meeting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5358384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published report (or a Teams tab) and walk the room from the Executive Summary tile into the flagged-supplier detail.</a:t>
            </a:r>
            <a:endParaRPr lang="en-US" sz="1030" dirty="0"/>
          </a:p>
        </p:txBody>
      </p:sp>
      <p:sp>
        <p:nvSpPr>
          <p:cNvPr id="34" name="Text 3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Risk Analytics  |  Purchase Management Review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6599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5156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actions before the next sourcing review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4231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assets/ic_slash_crim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551176"/>
            <a:ext cx="338328" cy="33832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32004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352044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Apex Drivetrain, Volt Precision, and IronClad Metal Works on order hold pending corrective-action plans.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26280" y="214884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4800600" y="24231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assets/ic_trending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255117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800600" y="32004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MONTH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800600" y="352044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Power BI dashboard and schedule refresh to match the Python job's cadence.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29600" y="214884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sp>
        <p:nvSpPr>
          <p:cNvPr id="16" name="Shape 12"/>
          <p:cNvSpPr/>
          <p:nvPr/>
        </p:nvSpPr>
        <p:spPr>
          <a:xfrm>
            <a:off x="8503920" y="24231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assets/ic_targe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2551176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503920" y="32004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QUARTER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8503920" y="352044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analysis on fresh order history to confirm whether flagged suppliers have improved.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5806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2026-09-14T07:59:40Z</dcterms:created>
  <dcterms:modified xsi:type="dcterms:W3CDTF">2026-09-14T07:59:40Z</dcterms:modified>
</cp:coreProperties>
</file>